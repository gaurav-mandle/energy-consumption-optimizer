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Mandle" userId="f0b394e503f07f79" providerId="LiveId" clId="{60BDDA2B-8A48-473A-96AD-18E370EC2AC4}"/>
    <pc:docChg chg="undo custSel modSld">
      <pc:chgData name="Gaurav Mandle" userId="f0b394e503f07f79" providerId="LiveId" clId="{60BDDA2B-8A48-473A-96AD-18E370EC2AC4}" dt="2026-07-11T07:03:46.571" v="119" actId="20577"/>
      <pc:docMkLst>
        <pc:docMk/>
      </pc:docMkLst>
      <pc:sldChg chg="modSp mod">
        <pc:chgData name="Gaurav Mandle" userId="f0b394e503f07f79" providerId="LiveId" clId="{60BDDA2B-8A48-473A-96AD-18E370EC2AC4}" dt="2026-07-09T12:04:13.059" v="66" actId="14100"/>
        <pc:sldMkLst>
          <pc:docMk/>
          <pc:sldMk cId="0" sldId="256"/>
        </pc:sldMkLst>
        <pc:spChg chg="mod">
          <ac:chgData name="Gaurav Mandle" userId="f0b394e503f07f79" providerId="LiveId" clId="{60BDDA2B-8A48-473A-96AD-18E370EC2AC4}" dt="2026-07-09T12:04:03.927" v="6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Gaurav Mandle" userId="f0b394e503f07f79" providerId="LiveId" clId="{60BDDA2B-8A48-473A-96AD-18E370EC2AC4}" dt="2026-07-09T12:04:13.059" v="66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Gaurav Mandle" userId="f0b394e503f07f79" providerId="LiveId" clId="{60BDDA2B-8A48-473A-96AD-18E370EC2AC4}" dt="2026-07-11T07:03:14.183" v="99" actId="20577"/>
        <pc:sldMkLst>
          <pc:docMk/>
          <pc:sldMk cId="0" sldId="259"/>
        </pc:sldMkLst>
        <pc:spChg chg="mod">
          <ac:chgData name="Gaurav Mandle" userId="f0b394e503f07f79" providerId="LiveId" clId="{60BDDA2B-8A48-473A-96AD-18E370EC2AC4}" dt="2026-07-11T07:03:14.183" v="99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Gaurav Mandle" userId="f0b394e503f07f79" providerId="LiveId" clId="{60BDDA2B-8A48-473A-96AD-18E370EC2AC4}" dt="2026-07-11T07:03:46.571" v="119" actId="20577"/>
        <pc:sldMkLst>
          <pc:docMk/>
          <pc:sldMk cId="0" sldId="260"/>
        </pc:sldMkLst>
        <pc:spChg chg="mod">
          <ac:chgData name="Gaurav Mandle" userId="f0b394e503f07f79" providerId="LiveId" clId="{60BDDA2B-8A48-473A-96AD-18E370EC2AC4}" dt="2026-07-11T07:03:46.571" v="119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Gaurav Mandle" userId="f0b394e503f07f79" providerId="LiveId" clId="{60BDDA2B-8A48-473A-96AD-18E370EC2AC4}" dt="2026-07-10T13:20:09.290" v="74" actId="14100"/>
        <pc:sldMkLst>
          <pc:docMk/>
          <pc:sldMk cId="0" sldId="261"/>
        </pc:sldMkLst>
        <pc:spChg chg="mod">
          <ac:chgData name="Gaurav Mandle" userId="f0b394e503f07f79" providerId="LiveId" clId="{60BDDA2B-8A48-473A-96AD-18E370EC2AC4}" dt="2026-07-10T13:19:51.844" v="70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Gaurav Mandle" userId="f0b394e503f07f79" providerId="LiveId" clId="{60BDDA2B-8A48-473A-96AD-18E370EC2AC4}" dt="2026-07-10T13:20:09.290" v="74" actId="14100"/>
          <ac:spMkLst>
            <pc:docMk/>
            <pc:sldMk cId="0" sldId="261"/>
            <ac:spMk id="6" creationId="{00000000-0000-0000-0000-000000000000}"/>
          </ac:spMkLst>
        </pc:spChg>
        <pc:picChg chg="mod">
          <ac:chgData name="Gaurav Mandle" userId="f0b394e503f07f79" providerId="LiveId" clId="{60BDDA2B-8A48-473A-96AD-18E370EC2AC4}" dt="2026-07-10T13:19:57.364" v="71" actId="1076"/>
          <ac:picMkLst>
            <pc:docMk/>
            <pc:sldMk cId="0" sldId="261"/>
            <ac:picMk id="5" creationId="{00000000-0000-0000-0000-000000000000}"/>
          </ac:picMkLst>
        </pc:picChg>
      </pc:sldChg>
      <pc:sldChg chg="delSp mod">
        <pc:chgData name="Gaurav Mandle" userId="f0b394e503f07f79" providerId="LiveId" clId="{60BDDA2B-8A48-473A-96AD-18E370EC2AC4}" dt="2026-07-10T13:19:32.671" v="67" actId="478"/>
        <pc:sldMkLst>
          <pc:docMk/>
          <pc:sldMk cId="0" sldId="263"/>
        </pc:sldMkLst>
        <pc:spChg chg="del">
          <ac:chgData name="Gaurav Mandle" userId="f0b394e503f07f79" providerId="LiveId" clId="{60BDDA2B-8A48-473A-96AD-18E370EC2AC4}" dt="2026-07-10T13:19:32.671" v="67" actId="478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645920"/>
            <a:ext cx="73152" cy="3840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9FAFB"/>
                </a:solidFill>
                <a:latin typeface="Arial"/>
              </a:defRPr>
            </a:pPr>
            <a:r>
              <a:t>Energy Consumption Optimizer</a:t>
            </a:r>
          </a:p>
          <a:p>
            <a:pPr>
              <a:defRPr sz="1600">
                <a:solidFill>
                  <a:srgbClr val="9CA3AF"/>
                </a:solidFill>
                <a:latin typeface="Arial"/>
              </a:defRPr>
            </a:pPr>
            <a:r>
              <a:t>Predicting Hourly Electricity Load for a Smart City using Regression &amp; Feature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32720" cy="128016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rPr dirty="0"/>
              <a:t>PRESENTED BY TEAM MEMBERS:</a:t>
            </a:r>
            <a:endParaRPr lang="en-US" dirty="0"/>
          </a:p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endParaRPr lang="en-IN" dirty="0"/>
          </a:p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endParaRPr lang="en-IN" dirty="0"/>
          </a:p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876800" y="4886236"/>
            <a:ext cx="40899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F9FAFB"/>
                </a:solidFill>
              </a:rPr>
              <a:t>GAURAV MANDLE</a:t>
            </a:r>
            <a:r>
              <a:rPr lang="en-US" sz="1100" b="1" dirty="0">
                <a:solidFill>
                  <a:srgbClr val="F9FAFB"/>
                </a:solidFill>
              </a:rPr>
              <a:t>     </a:t>
            </a:r>
            <a:r>
              <a:rPr sz="1100" b="1" dirty="0">
                <a:solidFill>
                  <a:srgbClr val="F9FAFB"/>
                </a:solidFill>
              </a:rPr>
              <a:t>SCA25MCA098         </a:t>
            </a:r>
            <a:endParaRPr lang="en-US" sz="1100" b="1" dirty="0">
              <a:solidFill>
                <a:srgbClr val="F9FAFB"/>
              </a:solidFill>
            </a:endParaRPr>
          </a:p>
          <a:p>
            <a:r>
              <a:rPr sz="1100" b="1" dirty="0">
                <a:solidFill>
                  <a:srgbClr val="F9FAFB"/>
                </a:solidFill>
              </a:rPr>
              <a:t> AKASH RAJ</a:t>
            </a:r>
            <a:r>
              <a:rPr lang="en-US" sz="1100" b="1" dirty="0">
                <a:solidFill>
                  <a:srgbClr val="F9FAFB"/>
                </a:solidFill>
              </a:rPr>
              <a:t>                 </a:t>
            </a:r>
            <a:r>
              <a:rPr sz="1100" b="1" dirty="0">
                <a:solidFill>
                  <a:srgbClr val="F9FAFB"/>
                </a:solidFill>
              </a:rPr>
              <a:t>SCA25MCA08</a:t>
            </a:r>
            <a:r>
              <a:rPr lang="en-US" sz="1100" b="1" dirty="0">
                <a:solidFill>
                  <a:srgbClr val="F9FAFB"/>
                </a:solidFill>
              </a:rPr>
              <a:t>6</a:t>
            </a:r>
            <a:r>
              <a:rPr sz="1100" b="1" dirty="0">
                <a:solidFill>
                  <a:srgbClr val="F9FAFB"/>
                </a:solidFill>
              </a:rPr>
              <a:t>    </a:t>
            </a:r>
            <a:endParaRPr lang="en-US" sz="1100" b="1" dirty="0">
              <a:solidFill>
                <a:srgbClr val="F9FAFB"/>
              </a:solidFill>
            </a:endParaRPr>
          </a:p>
          <a:p>
            <a:r>
              <a:rPr sz="1100" b="1" dirty="0">
                <a:solidFill>
                  <a:srgbClr val="F9FAFB"/>
                </a:solidFill>
              </a:rPr>
              <a:t>MITHUN BAADKAR</a:t>
            </a:r>
            <a:r>
              <a:rPr lang="en-US" sz="1100" b="1" dirty="0">
                <a:solidFill>
                  <a:srgbClr val="F9FAFB"/>
                </a:solidFill>
              </a:rPr>
              <a:t>    </a:t>
            </a:r>
            <a:r>
              <a:rPr sz="1100" b="1" dirty="0">
                <a:solidFill>
                  <a:srgbClr val="F9FAFB"/>
                </a:solidFill>
              </a:rPr>
              <a:t>SCA25MCA115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9CA3AF"/>
                </a:solidFill>
                <a:latin typeface="Arial"/>
              </a:rPr>
              <a:t>In modern smart cities, balancing electricity supply and demand is critical. Producing too much power results in waste; producing too little causes blackouts.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9CA3AF"/>
                </a:solidFill>
                <a:latin typeface="Arial"/>
              </a:rPr>
              <a:t>This project builds an end-to-end Machine Learning pipeline that forecasts energy demand (electricity load) on an hourly basis. By predicting load ahead of time, city operators can adjust grid generation levels dynamically.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9CA3AF"/>
                </a:solidFill>
                <a:latin typeface="Arial"/>
              </a:rPr>
              <a:t>
ML TASK: Regression model using historical weather and calendar readings.
OUTPUT target_variable: Expected electricity consumption load (kWh).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⏰  Hour of Day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Value range 0-23. Essential to capture diurnal load peaks (midday activities vs midnight dips).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📅  Day &amp; Month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Day of week (0-6) and Month (1-12) to capture weekend drops and seasonal summer/winter peaks.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🌡️  Temperature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Directly drives high HVAC heating and cooling demands during extreme heat or cold.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💧  Humidity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Measures ambient humidity, which influences thermal comfort index and secondary grid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Real-world Data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Sensor Outages: </a:t>
            </a:r>
            <a:r>
              <a:rPr sz="1150">
                <a:solidFill>
                  <a:srgbClr val="9CA3AF"/>
                </a:solidFill>
                <a:latin typeface="Arial"/>
              </a:rPr>
              <a:t>Network failures cause sensor gaps, resulting in missing temperatures and humidity logs.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Logging Glitches: </a:t>
            </a:r>
            <a:r>
              <a:rPr sz="1150">
                <a:solidFill>
                  <a:srgbClr val="9CA3AF"/>
                </a:solidFill>
                <a:latin typeface="Arial"/>
              </a:rPr>
              <a:t>IoT sensor issues duplicate the same timestamp records multiple times, skewing averages.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Range Scales: </a:t>
            </a:r>
            <a:r>
              <a:rPr sz="1150">
                <a:solidFill>
                  <a:srgbClr val="9CA3AF"/>
                </a:solidFill>
                <a:latin typeface="Arial"/>
              </a:rPr>
              <a:t>Raw features naturally exist on very different scales (e.g. Hour: 0-23, Temp: 5-45C, Humidity: 40-90%), causing model scale bias.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Production Gap: </a:t>
            </a:r>
            <a:r>
              <a:rPr sz="1150">
                <a:solidFill>
                  <a:srgbClr val="9CA3AF"/>
                </a:solidFill>
                <a:latin typeface="Arial"/>
              </a:rPr>
              <a:t>Grid operators lacked a serialized model and web API deployment to get predictions on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7316"/>
                </a:solidFill>
                <a:latin typeface="Arial"/>
              </a:defRPr>
            </a:pPr>
            <a:r>
              <a:t>⚠️  Missing Data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140 sensor drop values (80 temperature, 60 humidity) identified in raw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8B5CF6"/>
                </a:solidFill>
                <a:latin typeface="Arial"/>
              </a:defRPr>
            </a:pPr>
            <a:r>
              <a:t>♻️  Duplicate Logs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30 duplicate sensor timestamps dropped to prevent model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B82F6"/>
                </a:solidFill>
                <a:latin typeface="Arial"/>
              </a:defRPr>
            </a:pPr>
            <a:r>
              <a:t>⚖️  Range Scales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Standard scaling is mandatory to prevent humidity values from dominating temperature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🌐  API Delivery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Trained models must be serialized (.pkl) and wrapped in web APIs for live grid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Machine Learning 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Our structured regression pipeline spans from initial dataset simulation to final API deployment: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rPr dirty="0"/>
              <a:t>1. Data</a:t>
            </a:r>
            <a:r>
              <a:rPr lang="en-US" dirty="0"/>
              <a:t>-Set</a:t>
            </a:r>
            <a:endParaRPr dirty="0"/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rPr dirty="0"/>
              <a:t> 8,760 hours (1 year) of smart grid telemetry incorporating weather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228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Arial"/>
              </a:defRPr>
            </a:pPr>
            <a:r>
              <a:t>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2. Data Cleaning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Handled duplicate entries and imputed sensor gaps using column mean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228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Arial"/>
              </a:defRPr>
            </a:pPr>
            <a:r>
              <a:t>--&gt;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3. EDA &amp; Visuals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Explored daily cyclical usage loads and analyzed environmental correlation coefficients.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228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Arial"/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4. Feature Scale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Applied StandardScaler (mean=0, std=1) and MinMaxScaler (0 to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40480"/>
            <a:ext cx="228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Arial"/>
              </a:defRPr>
            </a:pPr>
            <a:r>
              <a:t>--&gt;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5. Model Training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Trained Linear Regression and Random Forest models on scaled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840480"/>
            <a:ext cx="228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Arial"/>
              </a:defRPr>
            </a:pPr>
            <a:r>
              <a:t>--&gt;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194560"/>
            <a:ext cx="1600200" cy="38404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6. Cloud Deploy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Saved serialized models and designed a Flask API for real-time grid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STEPS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Dataset Simulation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15645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</a:t>
            </a:r>
            <a:r>
              <a:rPr sz="1200" b="1">
                <a:solidFill>
                  <a:srgbClr val="10B981"/>
                </a:solidFill>
                <a:latin typeface="Arial"/>
              </a:rPr>
              <a:t>* </a:t>
            </a:r>
            <a:r>
              <a:rPr sz="1200" b="1">
                <a:solidFill>
                  <a:srgbClr val="F9FAFB"/>
                </a:solidFill>
                <a:latin typeface="Arial"/>
              </a:rPr>
              <a:t> Simulation:</a:t>
            </a:r>
            <a:r>
              <a:rPr lang="en-US" sz="1200" b="1">
                <a:solidFill>
                  <a:srgbClr val="F9FAFB"/>
                </a:solidFill>
                <a:latin typeface="Arial"/>
              </a:rPr>
              <a:t> </a:t>
            </a:r>
            <a:r>
              <a:rPr sz="1150">
                <a:solidFill>
                  <a:srgbClr val="9CA3AF"/>
                </a:solidFill>
                <a:latin typeface="Arial"/>
              </a:rPr>
              <a:t>8,760 hours of grid telemetry. </a:t>
            </a:r>
            <a:r>
              <a:rPr sz="1150" dirty="0">
                <a:solidFill>
                  <a:srgbClr val="9CA3AF"/>
                </a:solidFill>
                <a:latin typeface="Arial"/>
              </a:rPr>
              <a:t>Modeled hourly diurnal curves (midday high, night dip), temperature cycles, and weekend drop patterns (30 kWh lower).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Missing Values Imputed: </a:t>
            </a:r>
            <a:r>
              <a:rPr sz="1150" dirty="0">
                <a:solidFill>
                  <a:srgbClr val="9CA3AF"/>
                </a:solidFill>
                <a:latin typeface="Arial"/>
              </a:rPr>
              <a:t>Replaced 140 missing temperature and humidity values using the average of each column (mean imputation).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Deduplication Done: </a:t>
            </a:r>
            <a:r>
              <a:rPr sz="1150" dirty="0">
                <a:solidFill>
                  <a:srgbClr val="9CA3AF"/>
                </a:solidFill>
                <a:latin typeface="Arial"/>
              </a:rPr>
              <a:t>Identified and removed 30 duplicate sensor entries to avoid training redundancy and reset index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8,790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Total raw sensor rows collected from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140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Missing sensor telemetry logs imputed with column mean.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30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Duplicate records removed to prevent overfit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749039"/>
            <a:ext cx="2450592" cy="19202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9FAFB"/>
                </a:solidFill>
                <a:latin typeface="Arial"/>
              </a:defRPr>
            </a:pPr>
            <a:r>
              <a:t>8,760</a:t>
            </a:r>
          </a:p>
          <a:p>
            <a:pPr>
              <a:defRPr sz="950">
                <a:solidFill>
                  <a:srgbClr val="9CA3AF"/>
                </a:solidFill>
                <a:latin typeface="Arial"/>
              </a:defRPr>
            </a:pPr>
            <a:r>
              <a:t>Final clean hourly dataset rows ready for model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EXPLORING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407408" cy="20954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Diurnal Load Peaks: </a:t>
            </a:r>
            <a:r>
              <a:rPr sz="1150" dirty="0">
                <a:solidFill>
                  <a:srgbClr val="9CA3AF"/>
                </a:solidFill>
                <a:latin typeface="Arial"/>
              </a:rPr>
              <a:t>Grid demand follows active human rhythms: low consumption at night (lowest around 3 AM - 5 AM), rising sharp in the morning, and peaking in afternoon/evening hours.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Weekly Variations: </a:t>
            </a:r>
            <a:r>
              <a:rPr sz="1150" dirty="0">
                <a:solidFill>
                  <a:srgbClr val="9CA3AF"/>
                </a:solidFill>
                <a:latin typeface="Arial"/>
              </a:rPr>
              <a:t>Weekends show a clear 30 kWh drop in demand, reflecting closed office buildings, industrial spaces, and corporate facilities.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Extreme Temperature Peaks: </a:t>
            </a:r>
            <a:r>
              <a:rPr sz="1150" dirty="0">
                <a:solidFill>
                  <a:srgbClr val="9CA3AF"/>
                </a:solidFill>
                <a:latin typeface="Arial"/>
              </a:rPr>
              <a:t>Load values escalate at extreme cold or extreme hot points, illustrating HVAC cooling and heating demands (quadratic absolute correlation).</a:t>
            </a:r>
          </a:p>
        </p:txBody>
      </p:sp>
      <p:pic>
        <p:nvPicPr>
          <p:cNvPr id="5" name="Picture 4" descr="data_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1325880"/>
            <a:ext cx="71780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69764" y="1325880"/>
            <a:ext cx="7178040" cy="3840480"/>
          </a:xfrm>
          <a:prstGeom prst="rect">
            <a:avLst/>
          </a:prstGeom>
          <a:noFill/>
          <a:ln w="1905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Diurnal Weekly Electricity Load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What Drives Electricity Load?</a:t>
            </a:r>
          </a:p>
        </p:txBody>
      </p:sp>
      <p:pic>
        <p:nvPicPr>
          <p:cNvPr id="4" name="Picture 3" descr="data_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12064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645920"/>
            <a:ext cx="5120640" cy="3840480"/>
          </a:xfrm>
          <a:prstGeom prst="rect">
            <a:avLst/>
          </a:prstGeom>
          <a:noFill/>
          <a:ln w="1905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Features Correlation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Temperature Factor (+0.25): </a:t>
            </a:r>
            <a:r>
              <a:rPr sz="1150">
                <a:solidFill>
                  <a:srgbClr val="9CA3AF"/>
                </a:solidFill>
                <a:latin typeface="Arial"/>
              </a:rPr>
              <a:t>Positive correlation. As temperature rises, HVAC power consumption spikes. This models summer cooling demands.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Weekend Drop (-0.12): </a:t>
            </a:r>
            <a:r>
              <a:rPr sz="1150">
                <a:solidFill>
                  <a:srgbClr val="9CA3AF"/>
                </a:solidFill>
                <a:latin typeface="Arial"/>
              </a:rPr>
              <a:t>Negative correlation. Active weekends correspond to drops in commercial energy grids.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Hour of Day (+0.07): </a:t>
            </a:r>
            <a:r>
              <a:rPr sz="1150">
                <a:solidFill>
                  <a:srgbClr val="9CA3AF"/>
                </a:solidFill>
                <a:latin typeface="Arial"/>
              </a:rPr>
              <a:t>Linear correlation is low, but cyclical correlation is extremely high. Rises with active daily grid profiles.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Non-Linear Patterns: </a:t>
            </a:r>
            <a:r>
              <a:rPr sz="1150">
                <a:solidFill>
                  <a:srgbClr val="9CA3AF"/>
                </a:solidFill>
                <a:latin typeface="Arial"/>
              </a:rPr>
              <a:t>Correlation coefficients only capture linear effects. Non-linear patterns require ensemble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CORE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Feature Scaling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Scale Disparities: </a:t>
            </a:r>
            <a:r>
              <a:rPr sz="1150">
                <a:solidFill>
                  <a:srgbClr val="9CA3AF"/>
                </a:solidFill>
                <a:latin typeface="Arial"/>
              </a:rPr>
              <a:t>Raw features naturally exist on very different scales (e.g. Hour: 0-23, Temperature: 5-45C, Humidity: 40-90%). Models like linear regression bias coefficients towards larger features.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StandardScaler: </a:t>
            </a:r>
            <a:r>
              <a:rPr sz="1150">
                <a:solidFill>
                  <a:srgbClr val="9CA3AF"/>
                </a:solidFill>
                <a:latin typeface="Arial"/>
              </a:rPr>
              <a:t>Centers features to mean = 0 and standard deviation = 1 (Standardization). Ideal for linear systems.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  *  </a:t>
            </a:r>
            <a:r>
              <a:rPr sz="1200" b="1">
                <a:solidFill>
                  <a:srgbClr val="F9FAFB"/>
                </a:solidFill>
                <a:latin typeface="Arial"/>
              </a:rPr>
              <a:t>MinMaxScaler: </a:t>
            </a:r>
            <a:r>
              <a:rPr sz="1150">
                <a:solidFill>
                  <a:srgbClr val="9CA3AF"/>
                </a:solidFill>
                <a:latin typeface="Arial"/>
              </a:rPr>
              <a:t>Squashes values strictly inside the 0 to 1 range (Normalization). Bounded features.</a:t>
            </a:r>
          </a:p>
        </p:txBody>
      </p:sp>
      <p:pic>
        <p:nvPicPr>
          <p:cNvPr id="6" name="Picture 5" descr="scaling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45920"/>
            <a:ext cx="5696712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06440" y="1645920"/>
            <a:ext cx="5696712" cy="3840480"/>
          </a:xfrm>
          <a:prstGeom prst="rect">
            <a:avLst/>
          </a:prstGeom>
          <a:noFill/>
          <a:ln w="1905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Column Means Before vs After StandardScaler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Linear Regression vs. Random Forest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1020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636776"/>
            <a:ext cx="5410200" cy="3840480"/>
          </a:xfrm>
          <a:prstGeom prst="rect">
            <a:avLst/>
          </a:prstGeom>
          <a:noFill/>
          <a:ln w="19050">
            <a:solidFill>
              <a:srgbClr val="25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Model Evaluation &amp; Fit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82512" y="164592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t>R2 Score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t>Evaluation Verdict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82F6"/>
                          </a:solidFill>
                          <a:latin typeface="Arial"/>
                        </a:defRPr>
                      </a:pPr>
                      <a:r>
                        <a:rPr dirty="0"/>
                        <a:t>5424.45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82F6"/>
                          </a:solidFill>
                          <a:latin typeface="Arial"/>
                        </a:defRPr>
                      </a:pPr>
                      <a:r>
                        <a:t>1.92%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Failed. Straight line cannot model cycles.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491.14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91.12%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rPr dirty="0"/>
                        <a:t>Excellent. Captures cyclical waveforms.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82512" y="3383280"/>
            <a:ext cx="5120640" cy="2377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F9FAFB"/>
                </a:solidFill>
                <a:latin typeface="Arial"/>
              </a:defRPr>
            </a:pPr>
            <a:r>
              <a:rPr dirty="0"/>
              <a:t>Mathematical Analysis:</a:t>
            </a:r>
            <a:br>
              <a:rPr dirty="0"/>
            </a:br>
            <a:endParaRPr dirty="0"/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rPr dirty="0"/>
              <a:t>Why the low LR score? The target electricity load is a cyclical sine wave across the day, and temperature demands are non-linear absolute values. Linear Regression is restricted to fitting a straight hyperplane, which fails. Random Forest splits the data space into localized regions to model complex non-linear curves, yielding an R2 of 91.12%.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Conclusion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174150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Garbage In, Garbage Out: </a:t>
            </a:r>
            <a:r>
              <a:rPr sz="1150" dirty="0">
                <a:solidFill>
                  <a:srgbClr val="9CA3AF"/>
                </a:solidFill>
                <a:latin typeface="Arial"/>
              </a:rPr>
              <a:t>Data cleaning is mandatory. Dropping duplicates and imputing sensor outages resolved telemetry gaps prior to modeling.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Linearity Limitations: </a:t>
            </a:r>
            <a:r>
              <a:rPr sz="1150" dirty="0">
                <a:solidFill>
                  <a:srgbClr val="9CA3AF"/>
                </a:solidFill>
                <a:latin typeface="Arial"/>
              </a:rPr>
              <a:t>Linear Regression fails on cyclical data. A straight line is incapable of predicting sine waves and absolute-value HVAC profiles.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10B981"/>
                </a:solidFill>
                <a:latin typeface="Arial"/>
              </a:rPr>
              <a:t>  *  </a:t>
            </a:r>
            <a:r>
              <a:rPr sz="1200" b="1" dirty="0">
                <a:solidFill>
                  <a:srgbClr val="F9FAFB"/>
                </a:solidFill>
                <a:latin typeface="Arial"/>
              </a:rPr>
              <a:t>Ensemble Strengths: </a:t>
            </a:r>
            <a:r>
              <a:rPr sz="1150" dirty="0">
                <a:solidFill>
                  <a:srgbClr val="9CA3AF"/>
                </a:solidFill>
                <a:latin typeface="Arial"/>
              </a:rPr>
              <a:t>Random Forest excels by partitioning data space, modeling non-linear waves (R2: 91.12%).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27181"/>
              </p:ext>
            </p:extLst>
          </p:nvPr>
        </p:nvGraphicFramePr>
        <p:xfrm>
          <a:off x="6382512" y="1645920"/>
          <a:ext cx="5120640" cy="352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rPr dirty="0"/>
                        <a:t>Stage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9FAFB"/>
                          </a:solidFill>
                          <a:latin typeface="Arial"/>
                        </a:defRPr>
                      </a:pPr>
                      <a:r>
                        <a:t>Grid Pipeline Outcomes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8,760 clean hours simulated (1 year logs).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Pre-processing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140 gaps mean-imputed, 30 duplicate logs dropped.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StandardScaler and MinMaxScaler successfully tested.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Random Forest Regressor wins (MSE: 491.14, R2: 91.12%).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t>Inference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Arial"/>
                        </a:defRPr>
                      </a:pPr>
                      <a:r>
                        <a:rPr dirty="0"/>
                        <a:t>Monday 6 PM Summer Day predicted at 298.81 kWh.</a:t>
                      </a:r>
                    </a:p>
                  </a:txBody>
                  <a:tcPr>
                    <a:solidFill>
                      <a:srgbClr val="1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1172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Mandle</cp:lastModifiedBy>
  <cp:revision>5</cp:revision>
  <dcterms:created xsi:type="dcterms:W3CDTF">2013-01-27T09:14:16Z</dcterms:created>
  <dcterms:modified xsi:type="dcterms:W3CDTF">2026-07-11T09:35:25Z</dcterms:modified>
  <cp:category/>
</cp:coreProperties>
</file>